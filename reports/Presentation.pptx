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A3A6B"/>
                </a:solidFill>
              </a:defRPr>
            </a:pPr>
            <a:r>
              <a:t>Capstone Project 1</a:t>
            </a:r>
            <a:br/>
            <a:r>
              <a:t>Mutual Fund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82828"/>
                </a:solidFill>
              </a:defRPr>
            </a:pPr>
            <a:r>
              <a:t>Bluestock Fintech Pvt. Ltd. | Industrial ETL, EDA &amp; Performance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82828"/>
                </a:solidFill>
              </a:defRPr>
            </a:pPr>
            <a:r>
              <a:t>Prepared by: Devansh Mittal</a:t>
            </a:r>
            <a:br/>
            <a:r>
              <a:t>Project Manager: Yash Kale</a:t>
            </a:r>
            <a:br/>
            <a: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3A6B"/>
                </a:solidFill>
              </a:defRPr>
            </a:pPr>
            <a:r>
              <a:t>Problem &amp;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82828"/>
                </a:solidFill>
              </a:defRPr>
            </a:pPr>
            <a:r>
              <a:t>Indian mutual fund industry manages Rs 81L+ Cr AUM with 26 Cr+ folios — data is fragmented across AMFI, AMCs, and RTAs.</a:t>
            </a:r>
          </a:p>
          <a:p>
            <a:pPr>
              <a:spcAft>
                <a:spcPts val="800"/>
              </a:spcAft>
              <a:defRPr sz="1400">
                <a:solidFill>
                  <a:srgbClr val="282828"/>
                </a:solidFill>
              </a:defRPr>
            </a:pPr>
            <a:r>
              <a:t>Objective: Build an end-to-end analytics platform covering ETL, SQL warehousing, EDA, performance metrics, and dashboard-ready outputs.</a:t>
            </a:r>
          </a:p>
          <a:p>
            <a:pPr>
              <a:spcAft>
                <a:spcPts val="800"/>
              </a:spcAft>
              <a:defRPr sz="1400">
                <a:solidFill>
                  <a:srgbClr val="282828"/>
                </a:solidFill>
              </a:defRPr>
            </a:pPr>
            <a:r>
              <a:t>Focus universe: Six large-cap equity direct plans (HDFC, SBI, ICICI, Nippon, Axis, Kotak).</a:t>
            </a:r>
          </a:p>
          <a:p>
            <a:pPr>
              <a:spcAft>
                <a:spcPts val="800"/>
              </a:spcAft>
              <a:defRPr sz="1400">
                <a:solidFill>
                  <a:srgbClr val="282828"/>
                </a:solidFill>
              </a:defRPr>
            </a:pPr>
            <a:r>
              <a:t>Deliverables: Python pipeline, SQLite DB, 15+ charts, fund scorecard, VaR report, PDF report, and presentation.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3A6B"/>
                </a:solidFill>
              </a:defRPr>
            </a:pPr>
            <a:r>
              <a:t>Data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82828"/>
                </a:solidFill>
              </a:defRPr>
            </a:pPr>
            <a:r>
              <a:t>10 AMFI-style CSV datasets: fund master, NAV history, AUM, SIP inflows, category flows, folios, performance, transactions, holdings, benchmarks.</a:t>
            </a:r>
          </a:p>
          <a:p>
            <a:pPr>
              <a:spcAft>
                <a:spcPts val="800"/>
              </a:spcAft>
              <a:defRPr sz="1400">
                <a:solidFill>
                  <a:srgbClr val="282828"/>
                </a:solidFill>
              </a:defRPr>
            </a:pPr>
            <a:r>
              <a:t>Live NAV API: mfapi.in — daily refresh for 6 anchor schemes (AMFI codes 125497, 119551, 120503, 118632, 119092, 120841).</a:t>
            </a:r>
          </a:p>
          <a:p>
            <a:pPr>
              <a:spcAft>
                <a:spcPts val="800"/>
              </a:spcAft>
              <a:defRPr sz="1400">
                <a:solidFill>
                  <a:srgbClr val="282828"/>
                </a:solidFill>
              </a:defRPr>
            </a:pPr>
            <a:r>
              <a:t>32,000+ synthetic investor transactions with demographics (state, age, gender, city tier, KYC).</a:t>
            </a:r>
          </a:p>
          <a:p>
            <a:pPr>
              <a:spcAft>
                <a:spcPts val="800"/>
              </a:spcAft>
              <a:defRPr sz="1400">
                <a:solidFill>
                  <a:srgbClr val="282828"/>
                </a:solidFill>
              </a:defRPr>
            </a:pPr>
            <a:r>
              <a:t>Educational use only — not investment advice.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3A6B"/>
                </a:solidFill>
              </a:defRPr>
            </a:pPr>
            <a:r>
              <a:t>Architecture &amp; ETL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82828"/>
                </a:solidFill>
              </a:defRPr>
            </a:pPr>
            <a:r>
              <a:t>Medallion pattern: data/raw/ -&gt; data/processed/ -&gt; SQLite (bluestock_mf.db).</a:t>
            </a:r>
          </a:p>
          <a:p>
            <a:pPr>
              <a:spcAft>
                <a:spcPts val="800"/>
              </a:spcAft>
              <a:defRPr sz="1400">
                <a:solidFill>
                  <a:srgbClr val="282828"/>
                </a:solidFill>
              </a:defRPr>
            </a:pPr>
            <a:r>
              <a:t>Scripts: live_nav_fetch.py, data_ingestion.py, etl_pipeline.py, compute_metrics.py, export_eda_charts.py, advanced_analytics.py.</a:t>
            </a:r>
          </a:p>
          <a:p>
            <a:pPr>
              <a:spcAft>
                <a:spcPts val="800"/>
              </a:spcAft>
              <a:defRPr sz="1400">
                <a:solidFill>
                  <a:srgbClr val="282828"/>
                </a:solidFill>
              </a:defRPr>
            </a:pPr>
            <a:r>
              <a:t>Star schema: dim_fund, dim_date, fact_nav, fact_transactions, fact_performance, fact_aum, fact_sip_industry.</a:t>
            </a:r>
          </a:p>
          <a:p>
            <a:pPr>
              <a:spcAft>
                <a:spcPts val="800"/>
              </a:spcAft>
              <a:defRPr sz="1400">
                <a:solidFill>
                  <a:srgbClr val="282828"/>
                </a:solidFill>
              </a:defRPr>
            </a:pPr>
            <a:r>
              <a:t>One-command execution: python run_pipeline.py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3A6B"/>
                </a:solidFill>
              </a:defRPr>
            </a:pPr>
            <a:r>
              <a:t>EDA: NAV Trends &amp; Market Cycles</a:t>
            </a:r>
          </a:p>
        </p:txBody>
      </p:sp>
      <p:pic>
        <p:nvPicPr>
          <p:cNvPr id="3" name="Picture 2" descr="eda_01_nav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0"/>
            <a:ext cx="8046720" cy="3715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282828"/>
                </a:solidFill>
              </a:defRPr>
            </a:pPr>
            <a:r>
              <a:t>2023 bull run and 2024 correction visible across all six large-cap funds.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3A6B"/>
                </a:solidFill>
              </a:defRPr>
            </a:pPr>
            <a:r>
              <a:t>EDA: SIP Inflows &amp; Industry Growth</a:t>
            </a:r>
          </a:p>
        </p:txBody>
      </p:sp>
      <p:pic>
        <p:nvPicPr>
          <p:cNvPr id="3" name="Picture 2" descr="eda_03_sip_inflo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0"/>
            <a:ext cx="8046720" cy="31807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282828"/>
                </a:solidFill>
              </a:defRPr>
            </a:pPr>
            <a:r>
              <a:t>Monthly SIP inflows peaked at Rs 31,002 Cr in December 2025.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3A6B"/>
                </a:solidFill>
              </a:defRPr>
            </a:pPr>
            <a:r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82828"/>
                </a:solidFill>
              </a:defRPr>
            </a:pPr>
            <a:r>
              <a:t>CAGR (1Y/3Y/5Y), Sharpe, Sortino, Alpha, Beta, Max Drawdown, Tracking Error.</a:t>
            </a:r>
          </a:p>
          <a:p>
            <a:pPr>
              <a:spcAft>
                <a:spcPts val="800"/>
              </a:spcAft>
              <a:defRPr sz="1400">
                <a:solidFill>
                  <a:srgbClr val="282828"/>
                </a:solidFill>
              </a:defRPr>
            </a:pPr>
            <a:r>
              <a:t>Risk-free rate: 6.5% (RBI repo proxy). Benchmark: Nifty 100 via peer regression.</a:t>
            </a:r>
          </a:p>
          <a:p>
            <a:pPr>
              <a:spcAft>
                <a:spcPts val="800"/>
              </a:spcAft>
              <a:defRPr sz="1400">
                <a:solidFill>
                  <a:srgbClr val="282828"/>
                </a:solidFill>
              </a:defRPr>
            </a:pPr>
            <a:r>
              <a:t>Top composite score: Kotak Bluechip (Score 81.2/100).</a:t>
            </a:r>
          </a:p>
          <a:p>
            <a:pPr>
              <a:spcAft>
                <a:spcPts val="800"/>
              </a:spcAft>
              <a:defRPr sz="1400">
                <a:solidFill>
                  <a:srgbClr val="282828"/>
                </a:solidFill>
              </a:defRPr>
            </a:pPr>
            <a:r>
              <a:t>Fund scorecard weights: 30% 3Y return + 25% Sharpe + 20% Alpha + 15% expense + 10% drawdown.</a:t>
            </a:r>
          </a:p>
        </p:txBody>
      </p:sp>
      <p:pic>
        <p:nvPicPr>
          <p:cNvPr id="4" name="Picture 3" descr="02_sharpe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7280"/>
            <a:ext cx="3931920" cy="2184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3A6B"/>
                </a:solidFill>
              </a:defRPr>
            </a:pPr>
            <a:r>
              <a:t>Benchmark Comparison — Top Funds</a:t>
            </a:r>
          </a:p>
        </p:txBody>
      </p:sp>
      <p:pic>
        <p:nvPicPr>
          <p:cNvPr id="3" name="Picture 2" descr="benchmark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0"/>
            <a:ext cx="8046720" cy="4023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282828"/>
                </a:solidFill>
              </a:defRPr>
            </a:pPr>
            <a:r>
              <a:t>Normalized NAV vs benchmark over observation period.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3A6B"/>
                </a:solidFill>
              </a:defRPr>
            </a:pPr>
            <a:r>
              <a:t>Advanced Risk: Rolling 90-Day Sharpe</a:t>
            </a:r>
          </a:p>
        </p:txBody>
      </p:sp>
      <p:pic>
        <p:nvPicPr>
          <p:cNvPr id="3" name="Picture 2" descr="rolling_sharp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0"/>
            <a:ext cx="8046720" cy="28680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282828"/>
                </a:solidFill>
              </a:defRPr>
            </a:pPr>
            <a:r>
              <a:t>VaR (95%), CVaR, SIP continuity, cohort analysis, and sector HHI in advanced_analytics.py.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3A6B"/>
                </a:solidFill>
              </a:defRPr>
            </a:pPr>
            <a:r>
              <a:t>Dashboard (Power BI Ready)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82828"/>
                </a:solidFill>
              </a:defRPr>
            </a:pPr>
            <a:r>
              <a:t>Page 1 — Industry Overview: AUM KPIs, SIP inflows, folio count, AMC bar chart.</a:t>
            </a:r>
          </a:p>
          <a:p>
            <a:pPr>
              <a:spcAft>
                <a:spcPts val="800"/>
              </a:spcAft>
              <a:defRPr sz="1400">
                <a:solidFill>
                  <a:srgbClr val="282828"/>
                </a:solidFill>
              </a:defRPr>
            </a:pPr>
            <a:r>
              <a:t>Page 2 — Fund Performance: Return vs risk scatter, scorecard table, NAV vs benchmark.</a:t>
            </a:r>
          </a:p>
          <a:p>
            <a:pPr>
              <a:spcAft>
                <a:spcPts val="800"/>
              </a:spcAft>
              <a:defRPr sz="1400">
                <a:solidFill>
                  <a:srgbClr val="282828"/>
                </a:solidFill>
              </a:defRPr>
            </a:pPr>
            <a:r>
              <a:t>Page 3 — Investor Analytics: State-wise SIP, age/gender demographics, transaction mix.</a:t>
            </a:r>
          </a:p>
          <a:p>
            <a:pPr>
              <a:spcAft>
                <a:spcPts val="800"/>
              </a:spcAft>
              <a:defRPr sz="1400">
                <a:solidFill>
                  <a:srgbClr val="282828"/>
                </a:solidFill>
              </a:defRPr>
            </a:pPr>
            <a:r>
              <a:t>Page 4 — SIP &amp; Market Trends: Dual-axis SIP + Nifty, category heatmap.</a:t>
            </a:r>
          </a:p>
          <a:p>
            <a:pPr>
              <a:spcAft>
                <a:spcPts val="800"/>
              </a:spcAft>
              <a:defRPr sz="1400">
                <a:solidFill>
                  <a:srgbClr val="282828"/>
                </a:solidFill>
              </a:defRPr>
            </a:pPr>
            <a:r>
              <a:t>Connect via SQLite (bluestock_mf.db) or processed CSVs in data/processed/.</a:t>
            </a:r>
          </a:p>
        </p:txBody>
      </p:sp>
      <p:pic>
        <p:nvPicPr>
          <p:cNvPr id="4" name="Picture 3" descr="eda_04_category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7280"/>
            <a:ext cx="3931920" cy="236154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3A6B"/>
                </a:solidFill>
              </a:defRPr>
            </a:pPr>
            <a: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82828"/>
                </a:solidFill>
              </a:defRPr>
            </a:pPr>
            <a:r>
              <a:t>SIP dominates investor behaviour — systematic investing is the primary retail channel.</a:t>
            </a:r>
          </a:p>
          <a:p>
            <a:pPr>
              <a:spcAft>
                <a:spcPts val="800"/>
              </a:spcAft>
              <a:defRPr sz="1400">
                <a:solidFill>
                  <a:srgbClr val="282828"/>
                </a:solidFill>
              </a:defRPr>
            </a:pPr>
            <a:r>
              <a:t>Large-cap funds show high pairwise correlation (&gt;0.85) due to shared benchmark exposure.</a:t>
            </a:r>
          </a:p>
          <a:p>
            <a:pPr>
              <a:spcAft>
                <a:spcPts val="800"/>
              </a:spcAft>
              <a:defRPr sz="1400">
                <a:solidFill>
                  <a:srgbClr val="282828"/>
                </a:solidFill>
              </a:defRPr>
            </a:pPr>
            <a:r>
              <a:t>SBI Mutual Fund leads industry AUM at Rs 12.5L Cr (2025), reflecting AMC scale advantage.</a:t>
            </a:r>
          </a:p>
          <a:p>
            <a:pPr>
              <a:spcAft>
                <a:spcPts val="800"/>
              </a:spcAft>
              <a:defRPr sz="1400">
                <a:solidFill>
                  <a:srgbClr val="282828"/>
                </a:solidFill>
              </a:defRPr>
            </a:pPr>
            <a:r>
              <a:t>Rolling Sharpe and VaR identify regime shifts during 2020 COVID and 2022 rate-hike cycles.</a:t>
            </a:r>
          </a:p>
          <a:p>
            <a:pPr>
              <a:spcAft>
                <a:spcPts val="800"/>
              </a:spcAft>
              <a:defRPr sz="1400">
                <a:solidFill>
                  <a:srgbClr val="282828"/>
                </a:solidFill>
              </a:defRPr>
            </a:pPr>
            <a:r>
              <a:t>Fund recommender maps risk appetite to Sharpe-ranked schemes within matching risk grade.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A3A6B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82828"/>
                </a:solidFill>
              </a:defRPr>
            </a:pPr>
            <a:r>
              <a:t>Devansh Mittal | Project Manager: Yash Kale</a:t>
            </a:r>
            <a:br/>
            <a:r>
              <a:t>Bluestock Fintech — Capstone Project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